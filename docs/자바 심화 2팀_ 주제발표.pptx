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1E4730-E92C-4794-9591-5E473F5CE9E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31BAC8-15EA-4D86-B548-F527BFCF7547}">
      <dgm:prSet/>
      <dgm:spPr/>
      <dgm:t>
        <a:bodyPr/>
        <a:lstStyle/>
        <a:p>
          <a:r>
            <a:rPr lang="ko-KR" altLang="en-US" dirty="0"/>
            <a:t>타자연습 기반의 다양한 미니게임을 즐길 수 있는 멀티 플레이 게임</a:t>
          </a:r>
          <a:endParaRPr lang="en-US" dirty="0"/>
        </a:p>
      </dgm:t>
    </dgm:pt>
    <dgm:pt modelId="{E1E8F51E-D22A-4494-8D48-F6142FC10E1E}" type="parTrans" cxnId="{98AEA38A-535A-4265-B7E3-E082AE7CC1BB}">
      <dgm:prSet/>
      <dgm:spPr/>
      <dgm:t>
        <a:bodyPr/>
        <a:lstStyle/>
        <a:p>
          <a:endParaRPr lang="en-US"/>
        </a:p>
      </dgm:t>
    </dgm:pt>
    <dgm:pt modelId="{4B847000-F66C-4E3B-8D59-7C0785DFFB74}" type="sibTrans" cxnId="{98AEA38A-535A-4265-B7E3-E082AE7CC1BB}">
      <dgm:prSet/>
      <dgm:spPr/>
      <dgm:t>
        <a:bodyPr/>
        <a:lstStyle/>
        <a:p>
          <a:endParaRPr lang="en-US"/>
        </a:p>
      </dgm:t>
    </dgm:pt>
    <dgm:pt modelId="{FC1C9E2F-F7B4-4A4F-A155-FA17DB1F92BA}">
      <dgm:prSet/>
      <dgm:spPr/>
      <dgm:t>
        <a:bodyPr/>
        <a:lstStyle/>
        <a:p>
          <a:r>
            <a:rPr lang="ko-KR" dirty="0"/>
            <a:t>단순 속도 경쟁</a:t>
          </a:r>
          <a:r>
            <a:rPr lang="ko-KR" altLang="en-US" dirty="0"/>
            <a:t>이 아닌</a:t>
          </a:r>
          <a:r>
            <a:rPr lang="en-US" altLang="ko-KR" dirty="0"/>
            <a:t>,</a:t>
          </a:r>
          <a:r>
            <a:rPr lang="en-US" dirty="0"/>
            <a:t> </a:t>
          </a:r>
          <a:r>
            <a:rPr lang="ko-KR" dirty="0"/>
            <a:t>다양한 상호작용과 전략적 요소를 통해 새로운 타자 게임 경험을 제공</a:t>
          </a:r>
          <a:endParaRPr lang="en-US" dirty="0"/>
        </a:p>
      </dgm:t>
    </dgm:pt>
    <dgm:pt modelId="{084AF6FF-30B1-4515-98F5-4AF9EC7E7694}" type="parTrans" cxnId="{41AD3F6B-023F-4F31-9AF3-B07A694118E7}">
      <dgm:prSet/>
      <dgm:spPr/>
      <dgm:t>
        <a:bodyPr/>
        <a:lstStyle/>
        <a:p>
          <a:endParaRPr lang="en-US"/>
        </a:p>
      </dgm:t>
    </dgm:pt>
    <dgm:pt modelId="{23FF15D3-A43E-419C-ADE3-5C4257237C98}" type="sibTrans" cxnId="{41AD3F6B-023F-4F31-9AF3-B07A694118E7}">
      <dgm:prSet/>
      <dgm:spPr/>
      <dgm:t>
        <a:bodyPr/>
        <a:lstStyle/>
        <a:p>
          <a:endParaRPr lang="en-US"/>
        </a:p>
      </dgm:t>
    </dgm:pt>
    <dgm:pt modelId="{3482CDE8-3CF3-42E0-AFDA-3E787E7AA25D}" type="pres">
      <dgm:prSet presAssocID="{DC1E4730-E92C-4794-9591-5E473F5CE9E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900D26-AF7D-4B46-90FA-4C0BE41CF971}" type="pres">
      <dgm:prSet presAssocID="{D531BAC8-15EA-4D86-B548-F527BFCF7547}" presName="hierRoot1" presStyleCnt="0"/>
      <dgm:spPr/>
    </dgm:pt>
    <dgm:pt modelId="{B8B2CF4D-BB8D-4F1E-A34E-9D0CFA002DC3}" type="pres">
      <dgm:prSet presAssocID="{D531BAC8-15EA-4D86-B548-F527BFCF7547}" presName="composite" presStyleCnt="0"/>
      <dgm:spPr/>
    </dgm:pt>
    <dgm:pt modelId="{C0611CB8-A560-4490-85F7-D2782785C92A}" type="pres">
      <dgm:prSet presAssocID="{D531BAC8-15EA-4D86-B548-F527BFCF7547}" presName="background" presStyleLbl="node0" presStyleIdx="0" presStyleCnt="2"/>
      <dgm:spPr/>
    </dgm:pt>
    <dgm:pt modelId="{CA18264D-0D28-4867-9341-CE86EC296294}" type="pres">
      <dgm:prSet presAssocID="{D531BAC8-15EA-4D86-B548-F527BFCF7547}" presName="text" presStyleLbl="fgAcc0" presStyleIdx="0" presStyleCnt="2">
        <dgm:presLayoutVars>
          <dgm:chPref val="3"/>
        </dgm:presLayoutVars>
      </dgm:prSet>
      <dgm:spPr/>
    </dgm:pt>
    <dgm:pt modelId="{3D9E3D3D-4D42-4ED6-AF02-354CC079352F}" type="pres">
      <dgm:prSet presAssocID="{D531BAC8-15EA-4D86-B548-F527BFCF7547}" presName="hierChild2" presStyleCnt="0"/>
      <dgm:spPr/>
    </dgm:pt>
    <dgm:pt modelId="{40B29018-1FFB-4149-9471-481BB03B030F}" type="pres">
      <dgm:prSet presAssocID="{FC1C9E2F-F7B4-4A4F-A155-FA17DB1F92BA}" presName="hierRoot1" presStyleCnt="0"/>
      <dgm:spPr/>
    </dgm:pt>
    <dgm:pt modelId="{276C449F-7471-4F8D-B2C1-817E32B67812}" type="pres">
      <dgm:prSet presAssocID="{FC1C9E2F-F7B4-4A4F-A155-FA17DB1F92BA}" presName="composite" presStyleCnt="0"/>
      <dgm:spPr/>
    </dgm:pt>
    <dgm:pt modelId="{44EE861C-54A3-4298-A4AD-AD3F6332A146}" type="pres">
      <dgm:prSet presAssocID="{FC1C9E2F-F7B4-4A4F-A155-FA17DB1F92BA}" presName="background" presStyleLbl="node0" presStyleIdx="1" presStyleCnt="2"/>
      <dgm:spPr/>
    </dgm:pt>
    <dgm:pt modelId="{5BDB867F-451B-48BB-A7F3-D37521273731}" type="pres">
      <dgm:prSet presAssocID="{FC1C9E2F-F7B4-4A4F-A155-FA17DB1F92BA}" presName="text" presStyleLbl="fgAcc0" presStyleIdx="1" presStyleCnt="2">
        <dgm:presLayoutVars>
          <dgm:chPref val="3"/>
        </dgm:presLayoutVars>
      </dgm:prSet>
      <dgm:spPr/>
    </dgm:pt>
    <dgm:pt modelId="{ECE50F8C-FF4A-407D-8FC4-C86F221A45BF}" type="pres">
      <dgm:prSet presAssocID="{FC1C9E2F-F7B4-4A4F-A155-FA17DB1F92BA}" presName="hierChild2" presStyleCnt="0"/>
      <dgm:spPr/>
    </dgm:pt>
  </dgm:ptLst>
  <dgm:cxnLst>
    <dgm:cxn modelId="{88F70717-AE37-4581-AC77-CAB87133CCBB}" type="presOf" srcId="{FC1C9E2F-F7B4-4A4F-A155-FA17DB1F92BA}" destId="{5BDB867F-451B-48BB-A7F3-D37521273731}" srcOrd="0" destOrd="0" presId="urn:microsoft.com/office/officeart/2005/8/layout/hierarchy1"/>
    <dgm:cxn modelId="{41AD3F6B-023F-4F31-9AF3-B07A694118E7}" srcId="{DC1E4730-E92C-4794-9591-5E473F5CE9ED}" destId="{FC1C9E2F-F7B4-4A4F-A155-FA17DB1F92BA}" srcOrd="1" destOrd="0" parTransId="{084AF6FF-30B1-4515-98F5-4AF9EC7E7694}" sibTransId="{23FF15D3-A43E-419C-ADE3-5C4257237C98}"/>
    <dgm:cxn modelId="{7971CE7F-69A0-4CE9-BAD4-1D1C8DCBE95E}" type="presOf" srcId="{DC1E4730-E92C-4794-9591-5E473F5CE9ED}" destId="{3482CDE8-3CF3-42E0-AFDA-3E787E7AA25D}" srcOrd="0" destOrd="0" presId="urn:microsoft.com/office/officeart/2005/8/layout/hierarchy1"/>
    <dgm:cxn modelId="{98AEA38A-535A-4265-B7E3-E082AE7CC1BB}" srcId="{DC1E4730-E92C-4794-9591-5E473F5CE9ED}" destId="{D531BAC8-15EA-4D86-B548-F527BFCF7547}" srcOrd="0" destOrd="0" parTransId="{E1E8F51E-D22A-4494-8D48-F6142FC10E1E}" sibTransId="{4B847000-F66C-4E3B-8D59-7C0785DFFB74}"/>
    <dgm:cxn modelId="{4818269A-6A17-4179-AE77-B0DC9483D10E}" type="presOf" srcId="{D531BAC8-15EA-4D86-B548-F527BFCF7547}" destId="{CA18264D-0D28-4867-9341-CE86EC296294}" srcOrd="0" destOrd="0" presId="urn:microsoft.com/office/officeart/2005/8/layout/hierarchy1"/>
    <dgm:cxn modelId="{51E7EF78-1A7F-460C-B0C4-C8CE042395B9}" type="presParOf" srcId="{3482CDE8-3CF3-42E0-AFDA-3E787E7AA25D}" destId="{6C900D26-AF7D-4B46-90FA-4C0BE41CF971}" srcOrd="0" destOrd="0" presId="urn:microsoft.com/office/officeart/2005/8/layout/hierarchy1"/>
    <dgm:cxn modelId="{F8A66B20-AC75-46EF-84E2-CC7CD45B12C8}" type="presParOf" srcId="{6C900D26-AF7D-4B46-90FA-4C0BE41CF971}" destId="{B8B2CF4D-BB8D-4F1E-A34E-9D0CFA002DC3}" srcOrd="0" destOrd="0" presId="urn:microsoft.com/office/officeart/2005/8/layout/hierarchy1"/>
    <dgm:cxn modelId="{DA2BA46F-BF8C-4121-B3BC-3BC95D34DFCC}" type="presParOf" srcId="{B8B2CF4D-BB8D-4F1E-A34E-9D0CFA002DC3}" destId="{C0611CB8-A560-4490-85F7-D2782785C92A}" srcOrd="0" destOrd="0" presId="urn:microsoft.com/office/officeart/2005/8/layout/hierarchy1"/>
    <dgm:cxn modelId="{36C1B20E-5685-4C5C-97DF-79C4FEEFC5C8}" type="presParOf" srcId="{B8B2CF4D-BB8D-4F1E-A34E-9D0CFA002DC3}" destId="{CA18264D-0D28-4867-9341-CE86EC296294}" srcOrd="1" destOrd="0" presId="urn:microsoft.com/office/officeart/2005/8/layout/hierarchy1"/>
    <dgm:cxn modelId="{870FF6A7-295A-44E4-8D53-830602E519C5}" type="presParOf" srcId="{6C900D26-AF7D-4B46-90FA-4C0BE41CF971}" destId="{3D9E3D3D-4D42-4ED6-AF02-354CC079352F}" srcOrd="1" destOrd="0" presId="urn:microsoft.com/office/officeart/2005/8/layout/hierarchy1"/>
    <dgm:cxn modelId="{EA911204-BAC4-4B96-918C-F53B16E77B7E}" type="presParOf" srcId="{3482CDE8-3CF3-42E0-AFDA-3E787E7AA25D}" destId="{40B29018-1FFB-4149-9471-481BB03B030F}" srcOrd="1" destOrd="0" presId="urn:microsoft.com/office/officeart/2005/8/layout/hierarchy1"/>
    <dgm:cxn modelId="{7EEE2ADD-67BC-4648-8B96-234E58839D7E}" type="presParOf" srcId="{40B29018-1FFB-4149-9471-481BB03B030F}" destId="{276C449F-7471-4F8D-B2C1-817E32B67812}" srcOrd="0" destOrd="0" presId="urn:microsoft.com/office/officeart/2005/8/layout/hierarchy1"/>
    <dgm:cxn modelId="{CF4FA083-2D6E-4EA5-A3D8-4C060FB8D672}" type="presParOf" srcId="{276C449F-7471-4F8D-B2C1-817E32B67812}" destId="{44EE861C-54A3-4298-A4AD-AD3F6332A146}" srcOrd="0" destOrd="0" presId="urn:microsoft.com/office/officeart/2005/8/layout/hierarchy1"/>
    <dgm:cxn modelId="{50146DDA-1787-4590-84B6-25DBD09FDD98}" type="presParOf" srcId="{276C449F-7471-4F8D-B2C1-817E32B67812}" destId="{5BDB867F-451B-48BB-A7F3-D37521273731}" srcOrd="1" destOrd="0" presId="urn:microsoft.com/office/officeart/2005/8/layout/hierarchy1"/>
    <dgm:cxn modelId="{CBA346C6-93EB-40B1-B835-0647B7744B7E}" type="presParOf" srcId="{40B29018-1FFB-4149-9471-481BB03B030F}" destId="{ECE50F8C-FF4A-407D-8FC4-C86F221A45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11CB8-A560-4490-85F7-D2782785C92A}">
      <dsp:nvSpPr>
        <dsp:cNvPr id="0" name=""/>
        <dsp:cNvSpPr/>
      </dsp:nvSpPr>
      <dsp:spPr>
        <a:xfrm>
          <a:off x="1307" y="52047"/>
          <a:ext cx="4589865" cy="2914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8264D-0D28-4867-9341-CE86EC296294}">
      <dsp:nvSpPr>
        <dsp:cNvPr id="0" name=""/>
        <dsp:cNvSpPr/>
      </dsp:nvSpPr>
      <dsp:spPr>
        <a:xfrm>
          <a:off x="511292" y="536533"/>
          <a:ext cx="4589865" cy="29145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000" kern="1200" dirty="0"/>
            <a:t>타자연습 기반의 다양한 미니게임을 즐길 수 있는 멀티 플레이 게임</a:t>
          </a:r>
          <a:endParaRPr lang="en-US" sz="3000" kern="1200" dirty="0"/>
        </a:p>
      </dsp:txBody>
      <dsp:txXfrm>
        <a:off x="596657" y="621898"/>
        <a:ext cx="4419135" cy="2743834"/>
      </dsp:txXfrm>
    </dsp:sp>
    <dsp:sp modelId="{44EE861C-54A3-4298-A4AD-AD3F6332A146}">
      <dsp:nvSpPr>
        <dsp:cNvPr id="0" name=""/>
        <dsp:cNvSpPr/>
      </dsp:nvSpPr>
      <dsp:spPr>
        <a:xfrm>
          <a:off x="5611143" y="52047"/>
          <a:ext cx="4589865" cy="2914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B867F-451B-48BB-A7F3-D37521273731}">
      <dsp:nvSpPr>
        <dsp:cNvPr id="0" name=""/>
        <dsp:cNvSpPr/>
      </dsp:nvSpPr>
      <dsp:spPr>
        <a:xfrm>
          <a:off x="6121128" y="536533"/>
          <a:ext cx="4589865" cy="29145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 dirty="0"/>
            <a:t>단순 속도 경쟁</a:t>
          </a:r>
          <a:r>
            <a:rPr lang="ko-KR" altLang="en-US" sz="3000" kern="1200" dirty="0"/>
            <a:t>이 아닌</a:t>
          </a:r>
          <a:r>
            <a:rPr lang="en-US" altLang="ko-KR" sz="3000" kern="1200" dirty="0"/>
            <a:t>,</a:t>
          </a:r>
          <a:r>
            <a:rPr lang="en-US" sz="3000" kern="1200" dirty="0"/>
            <a:t> </a:t>
          </a:r>
          <a:r>
            <a:rPr lang="ko-KR" sz="3000" kern="1200" dirty="0"/>
            <a:t>다양한 상호작용과 전략적 요소를 통해 새로운 타자 게임 경험을 제공</a:t>
          </a:r>
          <a:endParaRPr lang="en-US" sz="3000" kern="1200" dirty="0"/>
        </a:p>
      </dsp:txBody>
      <dsp:txXfrm>
        <a:off x="6206493" y="621898"/>
        <a:ext cx="4419135" cy="2743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3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7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5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7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7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5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2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2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6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2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4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4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4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4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6F0D66-368C-0A54-D6C6-0D0CE3874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5869" y="1994264"/>
            <a:ext cx="6935872" cy="3922755"/>
          </a:xfrm>
        </p:spPr>
        <p:txBody>
          <a:bodyPr>
            <a:normAutofit/>
          </a:bodyPr>
          <a:lstStyle/>
          <a:p>
            <a:pPr algn="r"/>
            <a:r>
              <a:rPr lang="ko-KR" altLang="en-US" dirty="0"/>
              <a:t>멀티플레이 </a:t>
            </a:r>
            <a:br>
              <a:rPr lang="en-US" altLang="ko-KR" dirty="0"/>
            </a:br>
            <a:r>
              <a:rPr lang="ko-KR" altLang="en-US" dirty="0"/>
              <a:t>타자 게임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Typing Arena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6F8CCD-4808-4CA1-9B84-015B989DD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3790" y="1050878"/>
            <a:ext cx="6157951" cy="943386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dirty="0"/>
              <a:t>자바 프로그래밍 심화 </a:t>
            </a:r>
            <a:r>
              <a:rPr lang="en-US" altLang="ko-KR" dirty="0"/>
              <a:t>2</a:t>
            </a:r>
            <a:r>
              <a:rPr lang="ko-KR" altLang="en-US" dirty="0"/>
              <a:t>조</a:t>
            </a:r>
            <a:endParaRPr lang="en-US" altLang="ko-KR" dirty="0"/>
          </a:p>
          <a:p>
            <a:pPr algn="r">
              <a:lnSpc>
                <a:spcPct val="110000"/>
              </a:lnSpc>
            </a:pPr>
            <a:r>
              <a:rPr lang="ko-KR" altLang="en-US" dirty="0"/>
              <a:t>임준혁 </a:t>
            </a:r>
            <a:r>
              <a:rPr lang="ko-KR" altLang="en-US" dirty="0" err="1"/>
              <a:t>남궁재민</a:t>
            </a:r>
            <a:r>
              <a:rPr lang="ko-KR" altLang="en-US" dirty="0"/>
              <a:t> </a:t>
            </a:r>
            <a:r>
              <a:rPr lang="ko-KR" altLang="en-US" dirty="0" err="1"/>
              <a:t>두하민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52D66-3FBE-D132-A898-B10DD799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3" r="17341"/>
          <a:stretch>
            <a:fillRect/>
          </a:stretch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67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430E9F-3B61-4A75-9A34-1EF839C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93CC3-99AA-471D-9142-5BD2235D6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5A1EFF-2E6F-4210-A283-AF9BE5B07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C9A7BB-4074-4704-B5B6-B526355DF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5622E3-2C65-496F-9C3F-CBEE21924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ED111D-3746-4B9C-AEE8-7AB834670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AE1D3C-1EF9-4A89-B613-EE7B78910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EB35BA9F-4DB6-C748-8000-50227393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497395"/>
            <a:ext cx="10064376" cy="1229756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목표 및 컨셉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E80A3F-530A-4181-887F-9AAF6DCBF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AA56F7FD-0BD9-B600-E10E-E51151422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862904"/>
              </p:ext>
            </p:extLst>
          </p:nvPr>
        </p:nvGraphicFramePr>
        <p:xfrm>
          <a:off x="818708" y="2552700"/>
          <a:ext cx="10712302" cy="3503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473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7E471-7651-A554-84A3-C046DE3B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ko-KR" altLang="en-US" dirty="0"/>
              <a:t>미니게임 소개</a:t>
            </a:r>
          </a:p>
        </p:txBody>
      </p:sp>
      <p:pic>
        <p:nvPicPr>
          <p:cNvPr id="5" name="그림 4" descr="스케치, 실루엣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D7FE2F-8E21-965D-075D-630150F0E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46798"/>
            <a:ext cx="5270053" cy="296440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8F5481-21E2-61F1-18D3-B0927C99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r>
              <a:rPr lang="ko-KR" altLang="en-US" dirty="0"/>
              <a:t>경쟁 미니게임</a:t>
            </a:r>
            <a:r>
              <a:rPr lang="en-US" altLang="ko-KR" dirty="0"/>
              <a:t> : </a:t>
            </a:r>
            <a:r>
              <a:rPr lang="ko-KR" altLang="en-US" dirty="0"/>
              <a:t>줄다리기</a:t>
            </a:r>
            <a:endParaRPr lang="en-US" altLang="ko-KR" dirty="0"/>
          </a:p>
          <a:p>
            <a:pPr lvl="1"/>
            <a:r>
              <a:rPr lang="ko-KR" altLang="en-US" dirty="0"/>
              <a:t>실시간으로 단어를 입력해 중앙의 밧줄을 당겨오는 </a:t>
            </a:r>
            <a:r>
              <a:rPr lang="ko-KR" altLang="en-US" b="1" dirty="0"/>
              <a:t>힘겨루기</a:t>
            </a:r>
            <a:r>
              <a:rPr lang="ko-KR" altLang="en-US" dirty="0"/>
              <a:t> 모드</a:t>
            </a:r>
          </a:p>
        </p:txBody>
      </p:sp>
    </p:spTree>
    <p:extLst>
      <p:ext uri="{BB962C8B-B14F-4D97-AF65-F5344CB8AC3E}">
        <p14:creationId xmlns:p14="http://schemas.microsoft.com/office/powerpoint/2010/main" val="186799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7FABCF6-9D9F-FDC2-940F-356CB163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ko-KR" altLang="en-US" dirty="0"/>
              <a:t>미니게임 소개</a:t>
            </a:r>
          </a:p>
        </p:txBody>
      </p:sp>
      <p:pic>
        <p:nvPicPr>
          <p:cNvPr id="5" name="그림 4" descr="텍스트, 스크린샷, 게임, 득점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4C29E9-09F5-071A-6E51-9800B0CEC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89228"/>
            <a:ext cx="5270053" cy="447954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B2212-AF0A-9341-5CE5-4DBB67A11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r>
              <a:rPr lang="ko-KR" altLang="en-US" dirty="0"/>
              <a:t>경쟁 미니게임 </a:t>
            </a:r>
            <a:r>
              <a:rPr lang="en-US" altLang="ko-KR" dirty="0"/>
              <a:t>: </a:t>
            </a:r>
            <a:r>
              <a:rPr lang="ko-KR" altLang="en-US" dirty="0"/>
              <a:t>땅따먹기</a:t>
            </a:r>
            <a:endParaRPr lang="en-US" altLang="ko-KR" dirty="0"/>
          </a:p>
          <a:p>
            <a:pPr lvl="1"/>
            <a:r>
              <a:rPr lang="ko-KR" altLang="en-US" dirty="0"/>
              <a:t>제한 시간 내에 더 많은 땅을 차지하고 뺏는 전략적 영역 다툼 모드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918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7D030A-63DE-09D2-208F-A49478D8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ko-KR" altLang="en-US" dirty="0"/>
              <a:t>미니게임 소개</a:t>
            </a:r>
          </a:p>
        </p:txBody>
      </p:sp>
      <p:pic>
        <p:nvPicPr>
          <p:cNvPr id="5" name="그림 4" descr="PC 게임, 비디오 게임 소프트웨어, 스크린샷, 전략 비디오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A999CC-E1EC-FFF4-F10B-193C932DB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47453"/>
            <a:ext cx="5270053" cy="196309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054C9-1747-F005-4E8A-ED848B16A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r>
              <a:rPr lang="ko-KR" altLang="en-US" dirty="0"/>
              <a:t>협동 미니게임 </a:t>
            </a:r>
            <a:r>
              <a:rPr lang="en-US" altLang="ko-KR" dirty="0"/>
              <a:t>: </a:t>
            </a:r>
            <a:r>
              <a:rPr lang="ko-KR" altLang="en-US" dirty="0"/>
              <a:t>성 지키기</a:t>
            </a:r>
            <a:endParaRPr lang="en-US" altLang="ko-KR" dirty="0"/>
          </a:p>
          <a:p>
            <a:pPr lvl="1"/>
            <a:r>
              <a:rPr lang="ko-KR" altLang="en-US" dirty="0"/>
              <a:t>몰려오는 단어 </a:t>
            </a:r>
            <a:r>
              <a:rPr lang="ko-KR" altLang="en-US" dirty="0" err="1"/>
              <a:t>몬스터로부터</a:t>
            </a:r>
            <a:r>
              <a:rPr lang="ko-KR" altLang="en-US" dirty="0"/>
              <a:t> 두 플레이어가 힘을 합쳐 성을 지키는 협동 디펜스 모드</a:t>
            </a:r>
          </a:p>
        </p:txBody>
      </p:sp>
    </p:spTree>
    <p:extLst>
      <p:ext uri="{BB962C8B-B14F-4D97-AF65-F5344CB8AC3E}">
        <p14:creationId xmlns:p14="http://schemas.microsoft.com/office/powerpoint/2010/main" val="237069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42F1BE-85EC-CD9B-6737-2011F266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미니게임 공통사항</a:t>
            </a:r>
          </a:p>
        </p:txBody>
      </p:sp>
      <p:pic>
        <p:nvPicPr>
          <p:cNvPr id="9" name="그림 8" descr="예술, 다채로움, 보라색, 큐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D7254-4E5F-2A86-3185-6B4040CF8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57036"/>
            <a:ext cx="5270053" cy="574392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7D8A8-51C6-9A95-CEA3-1103B50F8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r>
              <a:rPr lang="ko-KR" altLang="en-US" dirty="0"/>
              <a:t>모든 미니게임에는 아이템 요소를 추가하여 예측 불가능한 변수를 통해 재미를 더할 예정</a:t>
            </a:r>
            <a:endParaRPr lang="en-US" altLang="ko-KR" dirty="0"/>
          </a:p>
          <a:p>
            <a:r>
              <a:rPr lang="ko-KR" altLang="en-US" dirty="0"/>
              <a:t>게임별 아이템 아이디어는 논의 단계</a:t>
            </a:r>
          </a:p>
        </p:txBody>
      </p:sp>
    </p:spTree>
    <p:extLst>
      <p:ext uri="{BB962C8B-B14F-4D97-AF65-F5344CB8AC3E}">
        <p14:creationId xmlns:p14="http://schemas.microsoft.com/office/powerpoint/2010/main" val="73616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17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9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1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5EDB189B-BC7F-AF65-532C-F63C02D6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아키텍처</a:t>
            </a: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43E078-13CD-7D77-38EB-9FACCC06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554" y="2499694"/>
            <a:ext cx="5831833" cy="3824906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중앙 서버가 모든 게임 상태를 관리하고 동기화하는 </a:t>
            </a:r>
            <a:r>
              <a:rPr lang="ko-KR" altLang="en-US" b="1" dirty="0"/>
              <a:t>서버</a:t>
            </a:r>
            <a:r>
              <a:rPr lang="en-US" altLang="ko-KR" b="1" dirty="0"/>
              <a:t>-</a:t>
            </a:r>
            <a:r>
              <a:rPr lang="ko-KR" altLang="en-US" b="1" dirty="0"/>
              <a:t>클라이언트 모델</a:t>
            </a:r>
            <a:endParaRPr lang="en-US" dirty="0"/>
          </a:p>
        </p:txBody>
      </p:sp>
      <p:pic>
        <p:nvPicPr>
          <p:cNvPr id="5" name="내용 개체 틀 4" descr="스크린샷, 직사각형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6F86D0-C551-2D2A-0BE7-0DD74F935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974" y="3181601"/>
            <a:ext cx="4136627" cy="24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4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9FBDF9-6D00-4C36-9824-1549E76A8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DA832B-9545-4F74-8784-793092656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-17062"/>
            <a:ext cx="2817694" cy="6151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1E24B09B-C947-D58D-46A8-A6128CBA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542926"/>
            <a:ext cx="4948082" cy="1671144"/>
          </a:xfrm>
        </p:spPr>
        <p:txBody>
          <a:bodyPr>
            <a:normAutofit/>
          </a:bodyPr>
          <a:lstStyle/>
          <a:p>
            <a:r>
              <a:rPr lang="ko-KR" altLang="en-US" dirty="0"/>
              <a:t>기술 스택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1539EE-8BB6-421F-A9ED-6B45899E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1"/>
            <a:ext cx="998071" cy="448947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245987-BC2F-4D37-866D-DA44375DC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70247"/>
            <a:ext cx="6365240" cy="68775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0D18C7-6D9E-4A48-AF6C-8D2EA6EC7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654040"/>
            <a:ext cx="3318387" cy="12172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9DFBB3C8-070E-BCAA-3D01-260F5DE554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075" y="1976649"/>
            <a:ext cx="4948083" cy="40190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자바 버전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Java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21 LTS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UI 프레임워크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JavaFX</a:t>
            </a:r>
            <a:endParaRPr kumimoji="0" lang="ko-KR" altLang="ko-K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빌드 및 의존성 관리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Maven</a:t>
            </a:r>
            <a:endParaRPr kumimoji="0" lang="ko-KR" altLang="ko-K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데이터 통신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Gson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(JSON)</a:t>
            </a:r>
          </a:p>
        </p:txBody>
      </p:sp>
      <p:pic>
        <p:nvPicPr>
          <p:cNvPr id="8" name="그림 7" descr="그래픽, 도표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ABAED0-641F-0655-1AD5-310A12F6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214" y="3721103"/>
            <a:ext cx="2353327" cy="2353327"/>
          </a:xfrm>
          <a:prstGeom prst="rect">
            <a:avLst/>
          </a:prstGeom>
        </p:spPr>
      </p:pic>
      <p:pic>
        <p:nvPicPr>
          <p:cNvPr id="6" name="그림 5" descr="그래픽, 그래픽 디자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A81E12-3816-12DE-C5A1-5A142FAA1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198" y="1378498"/>
            <a:ext cx="2353327" cy="1323746"/>
          </a:xfrm>
          <a:prstGeom prst="rect">
            <a:avLst/>
          </a:prstGeom>
        </p:spPr>
      </p:pic>
      <p:pic>
        <p:nvPicPr>
          <p:cNvPr id="12" name="그림 11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B03077-7FC0-0862-3B29-D75D22E29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214" y="1485393"/>
            <a:ext cx="2353327" cy="982513"/>
          </a:xfrm>
          <a:prstGeom prst="rect">
            <a:avLst/>
          </a:prstGeom>
        </p:spPr>
      </p:pic>
      <p:pic>
        <p:nvPicPr>
          <p:cNvPr id="10" name="그림 9" descr="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792BD1-916D-F463-0A27-16AF4341C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199" y="4663429"/>
            <a:ext cx="2353327" cy="59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8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3E193-A75A-39B5-1AC1-97743E33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역할분담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AD8CD-64E5-0B27-2BAF-33DEEDC3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두하민</a:t>
            </a:r>
            <a:endParaRPr lang="en-US" altLang="ko-KR" dirty="0"/>
          </a:p>
          <a:p>
            <a:pPr lvl="1"/>
            <a:r>
              <a:rPr lang="ko-KR" altLang="en-US" b="1" dirty="0"/>
              <a:t>담당</a:t>
            </a:r>
            <a:r>
              <a:rPr lang="en-US" altLang="ko-KR" dirty="0"/>
              <a:t>: </a:t>
            </a:r>
            <a:r>
              <a:rPr lang="en-US" altLang="ko-KR" b="1" dirty="0"/>
              <a:t>'</a:t>
            </a:r>
            <a:r>
              <a:rPr lang="ko-KR" altLang="en-US" b="1" dirty="0"/>
              <a:t>성 지키기</a:t>
            </a:r>
            <a:r>
              <a:rPr lang="en-US" altLang="ko-KR" b="1" dirty="0"/>
              <a:t>'</a:t>
            </a:r>
            <a:r>
              <a:rPr lang="ko-KR" altLang="en-US" dirty="0"/>
              <a:t> 협동 게임 개발</a:t>
            </a:r>
            <a:r>
              <a:rPr lang="en-US" altLang="ko-KR" dirty="0"/>
              <a:t>,</a:t>
            </a:r>
            <a:r>
              <a:rPr lang="ko-KR" altLang="en-US" dirty="0"/>
              <a:t> 아이템 시스템 아이디어 및 구현</a:t>
            </a:r>
            <a:endParaRPr lang="en-US" altLang="ko-KR" dirty="0"/>
          </a:p>
          <a:p>
            <a:r>
              <a:rPr lang="ko-KR" altLang="en-US" dirty="0"/>
              <a:t>임준혁</a:t>
            </a:r>
            <a:endParaRPr lang="en-US" altLang="ko-KR" dirty="0"/>
          </a:p>
          <a:p>
            <a:pPr lvl="1"/>
            <a:r>
              <a:rPr lang="ko-KR" altLang="en-US" b="1" dirty="0"/>
              <a:t>담당</a:t>
            </a:r>
            <a:r>
              <a:rPr lang="en-US" altLang="ko-KR" dirty="0"/>
              <a:t>: </a:t>
            </a:r>
            <a:r>
              <a:rPr lang="ko-KR" altLang="en-US" dirty="0"/>
              <a:t>서버 및 네트워크 총괄</a:t>
            </a:r>
            <a:r>
              <a:rPr lang="en-US" altLang="ko-KR" dirty="0"/>
              <a:t>, </a:t>
            </a:r>
            <a:r>
              <a:rPr lang="en-US" altLang="ko-KR" b="1" dirty="0"/>
              <a:t>'</a:t>
            </a:r>
            <a:r>
              <a:rPr lang="ko-KR" altLang="en-US" b="1" dirty="0"/>
              <a:t>땅따먹기</a:t>
            </a:r>
            <a:r>
              <a:rPr lang="en-US" altLang="ko-KR" b="1" dirty="0"/>
              <a:t>'</a:t>
            </a:r>
            <a:r>
              <a:rPr lang="ko-KR" altLang="en-US" dirty="0"/>
              <a:t> 게임 개발</a:t>
            </a:r>
            <a:endParaRPr lang="en-US" altLang="ko-KR" dirty="0"/>
          </a:p>
          <a:p>
            <a:r>
              <a:rPr lang="ko-KR" altLang="en-US" dirty="0" err="1"/>
              <a:t>남궁재민</a:t>
            </a:r>
            <a:endParaRPr lang="en-US" altLang="ko-KR" dirty="0"/>
          </a:p>
          <a:p>
            <a:pPr lvl="1"/>
            <a:r>
              <a:rPr lang="ko-KR" altLang="en-US" b="1" dirty="0"/>
              <a:t>담당</a:t>
            </a:r>
            <a:r>
              <a:rPr lang="en-US" altLang="ko-KR" dirty="0"/>
              <a:t>: </a:t>
            </a:r>
            <a:r>
              <a:rPr lang="en-US" altLang="ko-KR" b="1" dirty="0"/>
              <a:t>'</a:t>
            </a:r>
            <a:r>
              <a:rPr lang="ko-KR" altLang="en-US" b="1" dirty="0"/>
              <a:t>줄다리기</a:t>
            </a:r>
            <a:r>
              <a:rPr lang="en-US" altLang="ko-KR" b="1" dirty="0"/>
              <a:t>'</a:t>
            </a:r>
            <a:r>
              <a:rPr lang="ko-KR" altLang="en-US" dirty="0"/>
              <a:t> 경쟁 게임 개발</a:t>
            </a:r>
            <a:r>
              <a:rPr lang="en-US" altLang="ko-KR" dirty="0"/>
              <a:t>, </a:t>
            </a:r>
            <a:r>
              <a:rPr lang="ko-KR" altLang="en-US" dirty="0"/>
              <a:t>전체 </a:t>
            </a:r>
            <a:r>
              <a:rPr lang="en-US" altLang="ko-KR" dirty="0"/>
              <a:t>UI/UX </a:t>
            </a:r>
            <a:r>
              <a:rPr lang="ko-KR" altLang="en-US" dirty="0"/>
              <a:t>디자인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4609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177768" y="0"/>
            <a:ext cx="5014232" cy="6868738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713264 w 4584879"/>
              <a:gd name="connsiteY2" fmla="*/ 6863976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408998"/>
              <a:gd name="connsiteY0" fmla="*/ 4762 h 6868738"/>
              <a:gd name="connsiteX1" fmla="*/ 4408998 w 4408998"/>
              <a:gd name="connsiteY1" fmla="*/ 0 h 6868738"/>
              <a:gd name="connsiteX2" fmla="*/ 2713264 w 4408998"/>
              <a:gd name="connsiteY2" fmla="*/ 6868738 h 6868738"/>
              <a:gd name="connsiteX3" fmla="*/ 0 w 4408998"/>
              <a:gd name="connsiteY3" fmla="*/ 6868738 h 6868738"/>
              <a:gd name="connsiteX4" fmla="*/ 0 w 4408998"/>
              <a:gd name="connsiteY4" fmla="*/ 4762 h 686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8998" h="6868738">
                <a:moveTo>
                  <a:pt x="0" y="4762"/>
                </a:moveTo>
                <a:lnTo>
                  <a:pt x="4408998" y="0"/>
                </a:lnTo>
                <a:lnTo>
                  <a:pt x="2713264" y="6868738"/>
                </a:lnTo>
                <a:lnTo>
                  <a:pt x="0" y="6868738"/>
                </a:lnTo>
                <a:lnTo>
                  <a:pt x="0" y="476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E7F73A-31AA-3027-6E1E-F9331E70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752" y="3109913"/>
            <a:ext cx="3738926" cy="30765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ko-KR" altLang="en-US" sz="4400" i="1" cap="all" dirty="0"/>
              <a:t>개발 일정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5D40F5-A8C4-4952-BCA6-4D0D14F8B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58751" y="0"/>
            <a:ext cx="532263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D8D5A96-26E5-250F-69F8-D77D6A751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276660"/>
              </p:ext>
            </p:extLst>
          </p:nvPr>
        </p:nvGraphicFramePr>
        <p:xfrm>
          <a:off x="190500" y="314325"/>
          <a:ext cx="7396301" cy="6404078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3137411">
                  <a:extLst>
                    <a:ext uri="{9D8B030D-6E8A-4147-A177-3AD203B41FA5}">
                      <a16:colId xmlns:a16="http://schemas.microsoft.com/office/drawing/2014/main" val="882737827"/>
                    </a:ext>
                  </a:extLst>
                </a:gridCol>
                <a:gridCol w="1120501">
                  <a:extLst>
                    <a:ext uri="{9D8B030D-6E8A-4147-A177-3AD203B41FA5}">
                      <a16:colId xmlns:a16="http://schemas.microsoft.com/office/drawing/2014/main" val="4290898451"/>
                    </a:ext>
                  </a:extLst>
                </a:gridCol>
                <a:gridCol w="741303">
                  <a:extLst>
                    <a:ext uri="{9D8B030D-6E8A-4147-A177-3AD203B41FA5}">
                      <a16:colId xmlns:a16="http://schemas.microsoft.com/office/drawing/2014/main" val="2752435575"/>
                    </a:ext>
                  </a:extLst>
                </a:gridCol>
                <a:gridCol w="732345">
                  <a:extLst>
                    <a:ext uri="{9D8B030D-6E8A-4147-A177-3AD203B41FA5}">
                      <a16:colId xmlns:a16="http://schemas.microsoft.com/office/drawing/2014/main" val="1548566204"/>
                    </a:ext>
                  </a:extLst>
                </a:gridCol>
                <a:gridCol w="393457">
                  <a:extLst>
                    <a:ext uri="{9D8B030D-6E8A-4147-A177-3AD203B41FA5}">
                      <a16:colId xmlns:a16="http://schemas.microsoft.com/office/drawing/2014/main" val="3606394904"/>
                    </a:ext>
                  </a:extLst>
                </a:gridCol>
                <a:gridCol w="1271284">
                  <a:extLst>
                    <a:ext uri="{9D8B030D-6E8A-4147-A177-3AD203B41FA5}">
                      <a16:colId xmlns:a16="http://schemas.microsoft.com/office/drawing/2014/main" val="3941648634"/>
                    </a:ext>
                  </a:extLst>
                </a:gridCol>
              </a:tblGrid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이름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작업명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담당자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시작 날짜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종료 날짜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비고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선택 사항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610833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--- [1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단계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프로젝트 기획 및 설정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] ---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22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28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800793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🎮 게임 세부 규칙 확정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아이템 효과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점수 등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22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24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708589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🔧 개발 환경 통일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800" cap="none" spc="0">
                          <a:solidFill>
                            <a:schemeClr val="bg1"/>
                          </a:solidFill>
                        </a:rPr>
                        <a:t>Java 17/21, IntelliJ, Maven)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22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25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039983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📂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Git Repository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생성 및 브랜치 전략 수립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25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26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53348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🏛️ 기본 아키텍처 설계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클래스 다이어그램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26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28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608516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--- [2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단계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핵심 기능 및 프로토타입 개발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] ---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29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중간 발표 목표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538281"/>
                  </a:ext>
                </a:extLst>
              </a:tr>
              <a:tr h="377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🌐 서버 코어 개발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소켓 통신 및 클라이언트 연결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임준혁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로비 및 채팅 포함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962502"/>
                  </a:ext>
                </a:extLst>
              </a:tr>
              <a:tr h="377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💻 클라이언트 코어 개발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서버 접속 모듈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&amp;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기본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UI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두하민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249275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🕹️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줄다리기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싱글플레이 로직 완성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남궁재민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17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414752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🌉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줄다리기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멀티플레이 연동 및 테스트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27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316834"/>
                  </a:ext>
                </a:extLst>
              </a:tr>
              <a:tr h="377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✨ 중간 발표 자료 준비 및 시연 리허설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28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중간 발표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: 11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849202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--- [3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단계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주요 미니게임 개발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] ---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24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0447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🕹️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땅따먹기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싱글플레이 로직 완성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임준혁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323219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🌉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땅따먹기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멀티플레이 연동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임준혁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남궁재민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537799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🕹️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성 지키기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싱글플레이 로직 완성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두하민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187569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🌉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성 지키기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'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멀티플레이 연동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두하민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남궁재민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182238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⚙️ 공통 아이템 시스템 서버 로직 구현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두하민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18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921511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✨ 각 게임에 아이템 효과 적용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남궁재민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24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765153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--- [4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단계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통합 및 최종 마무리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] ---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25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b="1" cap="none" spc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일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47651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🎨 전체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UI/UX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디자인 통일 및 개선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남궁재민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25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26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224568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🐞 통합 테스트 및 버그 수정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27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90774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🔊 사운드 이펙트 및 배경음악 추가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임준혁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27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75128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📄 최종 발표 자료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(PPT) 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및 문서 작성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29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161314"/>
                  </a:ext>
                </a:extLst>
              </a:tr>
              <a:tr h="23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 cap="none" spc="0">
                          <a:solidFill>
                            <a:schemeClr val="bg1"/>
                          </a:solidFill>
                        </a:rPr>
                        <a:t>🚀 최종 프로젝트 제출</a:t>
                      </a:r>
                      <a:endParaRPr lang="ko-KR" altLang="en-US" sz="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전원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월 </a:t>
                      </a:r>
                      <a:r>
                        <a:rPr lang="en-US" altLang="ko-KR" sz="800" cap="none" spc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cap="none" spc="0">
                          <a:solidFill>
                            <a:schemeClr val="bg1"/>
                          </a:solidFill>
                        </a:rPr>
                        <a:t>미정</a:t>
                      </a: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b="1" cap="none" spc="0" dirty="0">
                          <a:solidFill>
                            <a:schemeClr val="bg1"/>
                          </a:solidFill>
                        </a:rPr>
                        <a:t>프로젝트 마감일</a:t>
                      </a:r>
                      <a:endParaRPr lang="ko-KR" altLang="en-US" sz="8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0449" marR="10449" marT="62204" marB="52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4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71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D2BD4B-5832-7CCA-BE31-6BC9A555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678" y="927212"/>
            <a:ext cx="7802880" cy="32315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6600" i="1" cap="all" dirty="0"/>
              <a:t>감사합니다</a:t>
            </a:r>
            <a:r>
              <a:rPr lang="en-US" altLang="ko-KR" sz="6600" i="1" cap="all" dirty="0"/>
              <a:t>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2" y="19556"/>
            <a:ext cx="8547253" cy="23223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1" y="0"/>
            <a:ext cx="1461005" cy="46177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935720" y="3957320"/>
            <a:ext cx="3272713" cy="29006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3326" y="0"/>
            <a:ext cx="1332509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37960" y="0"/>
            <a:ext cx="5654039" cy="220625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5196840"/>
            <a:ext cx="5181599" cy="16416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16823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675</Words>
  <Application>Microsoft Office PowerPoint</Application>
  <PresentationFormat>와이드스크린</PresentationFormat>
  <Paragraphs>156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Microsoft GothicNeo</vt:lpstr>
      <vt:lpstr>Microsoft GothicNeo Light</vt:lpstr>
      <vt:lpstr>Arial</vt:lpstr>
      <vt:lpstr>AngleLinesVTI</vt:lpstr>
      <vt:lpstr>멀티플레이  타자 게임:  Typing Arena</vt:lpstr>
      <vt:lpstr>프로젝트 목표 및 컨셉</vt:lpstr>
      <vt:lpstr>미니게임 소개</vt:lpstr>
      <vt:lpstr>미니게임 소개</vt:lpstr>
      <vt:lpstr>미니게임 소개</vt:lpstr>
      <vt:lpstr>미니게임 공통사항</vt:lpstr>
      <vt:lpstr>프로젝트 아키텍처</vt:lpstr>
      <vt:lpstr>기술 스택</vt:lpstr>
      <vt:lpstr>역할분담</vt:lpstr>
      <vt:lpstr>개발 일정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VitaSemplice</dc:creator>
  <cp:lastModifiedBy>VitaSemplice</cp:lastModifiedBy>
  <cp:revision>1</cp:revision>
  <dcterms:created xsi:type="dcterms:W3CDTF">2025-09-26T05:47:35Z</dcterms:created>
  <dcterms:modified xsi:type="dcterms:W3CDTF">2025-09-26T07:37:16Z</dcterms:modified>
</cp:coreProperties>
</file>